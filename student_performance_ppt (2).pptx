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01-Oct-26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 (Slides 1-4): Introduction &amp;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 (Slides 5-8): Dataset &amp;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 (Slides 9-13): Analysis, Visualization &amp;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switch to Google Colab live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18" y="4767263"/>
            <a:ext cx="1600283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01-Oct-26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272" y="4767263"/>
            <a:ext cx="2171813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5156" y="4767263"/>
            <a:ext cx="1600283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78638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charset="0"/>
                <a:ea typeface="Poppins" pitchFamily="34" charset="-122"/>
                <a:cs typeface="Times New Roman" panose="02020603050405020304" charset="0"/>
              </a:rPr>
              <a:t>STUDENT PERFORMANCE</a:t>
            </a: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charset="0"/>
                <a:ea typeface="Poppins" pitchFamily="34" charset="-122"/>
                <a:cs typeface="Times New Roman" panose="02020603050405020304" charset="0"/>
              </a:rPr>
              <a:t>DATA ANALYSIS SYSTEM</a:t>
            </a: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57200" y="24688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D3EE"/>
                </a:solidFill>
                <a:latin typeface="Arial Black" panose="020B0A04020102020204" charset="0"/>
                <a:ea typeface="Poppins" pitchFamily="34" charset="-122"/>
                <a:cs typeface="Arial Black" panose="020B0A04020102020204" charset="0"/>
              </a:rPr>
              <a:t>Transforming Student Data into Meaningful Academic Insights</a:t>
            </a:r>
            <a:endParaRPr lang="en-US" sz="15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320040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Data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320040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14600" y="320040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606040" y="32004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251960" y="320040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0" y="320040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663440" y="32004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758400"/>
            <a:ext cx="8229600" cy="13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>
              <a:solidFill>
                <a:srgbClr val="A9B8D9"/>
              </a:solidFill>
              <a:latin typeface="Poppins" pitchFamily="34" charset="0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cs typeface="Poppins" pitchFamily="34" charset="-120"/>
              </a:rPr>
              <a:t>TEAM MEMEBERS:</a:t>
            </a:r>
          </a:p>
          <a:p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A.G.S.R.Kowshik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(25B11CS025)</a:t>
            </a:r>
          </a:p>
          <a:p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A.Anuradha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(25B11CS053)</a:t>
            </a:r>
          </a:p>
          <a:p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A.Yasaswini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(25B11CS065)</a:t>
            </a:r>
          </a:p>
          <a:p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B.Jyoshna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Rani(25B11CS084)</a:t>
            </a:r>
            <a:endParaRPr lang="en-US" sz="1400" dirty="0"/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 We Address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11887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55448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Large student datasets are difficult to analyze manually.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97480" y="1097280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834640" y="11887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155448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performance involves multiple attributes.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788920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2880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24612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Identifying performance patterns from raw records takes time.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97480" y="2788920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2834640" y="2880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324612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Numerical data is difficult to interpret quickly without visualization.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60720" y="109728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852160" y="109728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10,000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Records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20574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760720" y="237744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852160" y="237744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760720" y="33375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60720" y="36576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8B5CF6">
              <a:alpha val="60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852160" y="36576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 for Automated Analysis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Proposed Solution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Python-based Student Performance Data Analysis System that converts raw student records into structured academic insights.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94360" y="20116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3774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Dataset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286000" y="1920240"/>
            <a:ext cx="320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06040" y="192024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2743200" y="20116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23774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Inspection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434840" y="1920240"/>
            <a:ext cx="320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754880" y="192024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892040" y="20116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23774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1920240"/>
            <a:ext cx="320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03720" y="192024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040880" y="20116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33756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94360" y="34290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37947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286000" y="3337560"/>
            <a:ext cx="320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606040" y="333756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743200" y="34290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743200" y="37947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Grade Classification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434840" y="3337560"/>
            <a:ext cx="320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754880" y="333756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4892040" y="34290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892040" y="37947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583680" y="3337560"/>
            <a:ext cx="320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903720" y="333756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7040880" y="34290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040880" y="37947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132588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0116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Management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697480"/>
            <a:ext cx="12801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and analyze student records efficiently.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03120" y="118872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240280" y="132588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20116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2697480"/>
            <a:ext cx="12801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 missing and inconsistent values.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49040" y="118872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886200" y="132588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3886200" y="20116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86200" y="2697480"/>
            <a:ext cx="12801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Calculate totals, averages and statistical measures.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94960" y="118872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532120" y="132588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5532120" y="20116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Classification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697480"/>
            <a:ext cx="12801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Assign grades and identify performance categories.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040880" y="118872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178040" y="132588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20116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 Insights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178040" y="2697480"/>
            <a:ext cx="12801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Represent academic patterns through graphs.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Our Dataset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10,000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11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Records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51760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5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6576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31920" y="100584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023360" y="100584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Insert real DataFrame preview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 – df.head() 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31920" y="2606040"/>
            <a:ext cx="1463040" cy="2194560"/>
          </a:xfrm>
          <a:prstGeom prst="roundRect">
            <a:avLst>
              <a:gd name="adj" fmla="val 75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023360" y="269748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Information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32004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2606040"/>
            <a:ext cx="1463040" cy="2194560"/>
          </a:xfrm>
          <a:prstGeom prst="roundRect">
            <a:avLst>
              <a:gd name="adj" fmla="val 75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669280" y="269748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Information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0" y="32004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English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223760" y="2606040"/>
            <a:ext cx="1463040" cy="2194560"/>
          </a:xfrm>
          <a:prstGeom prst="roundRect">
            <a:avLst>
              <a:gd name="adj" fmla="val 75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0" y="269748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Additional Information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32004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AttendancePercent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Extracurricular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Grade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145" y="920750"/>
            <a:ext cx="5787390" cy="15284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Tools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01168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118872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194560" y="1371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201168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manipulation and analysis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49040" y="118872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840480" y="1371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NumPy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886200" y="201168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Numerical and statistical operations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94960" y="118872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86400" y="1371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201168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visualization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040880" y="118872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132320" y="1371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178040" y="201168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environment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14400" y="384048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005840" y="38404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CSV Dataset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108960" y="3840480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474720" y="384048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3566160" y="38404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Analysis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3840480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035040" y="384048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126480" y="38404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 Insights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Raw Data to Academic Insights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005840" y="2377440"/>
            <a:ext cx="5029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-182880" y="278892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Dataset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57400" y="2377440"/>
            <a:ext cx="5029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508760" y="210312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50876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13716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Inspection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08960" y="2377440"/>
            <a:ext cx="5029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560320" y="210312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256032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278892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60520" y="2377440"/>
            <a:ext cx="5029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11880" y="210312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361188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971800" y="13716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212080" y="2377440"/>
            <a:ext cx="5029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663440" y="210312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66344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023360" y="278892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Statistical Analysis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63640" y="2377440"/>
            <a:ext cx="5029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715000" y="210312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71500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074920" y="13716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Grade Classification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315200" y="2377440"/>
            <a:ext cx="5029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766560" y="210312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676656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126480" y="278892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818120" y="210312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781812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178040" y="13716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Preparing the Data for Reliable Analysis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100584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0058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Value Detection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18488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94360" y="161848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618488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231136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2231136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231136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Cleaning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843784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94360" y="2843784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2843784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Numeric Conversion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456432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94360" y="3456432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3456432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Marks &amp; Attendance Validation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069080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94360" y="406908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06908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&amp; Average Calculation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46320" y="100584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937760" y="109728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1,652</a:t>
            </a:r>
            <a:endParaRPr lang="en-US" sz="3800" dirty="0"/>
          </a:p>
        </p:txBody>
      </p:sp>
      <p:sp>
        <p:nvSpPr>
          <p:cNvPr id="26" name="Text 23"/>
          <p:cNvSpPr txBox="1"/>
          <p:nvPr/>
        </p:nvSpPr>
        <p:spPr>
          <a:xfrm>
            <a:off x="4937760" y="1874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Extracurricular Values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937760" y="24231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“Not Specified”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4937760" y="306324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3800" dirty="0"/>
          </a:p>
        </p:txBody>
      </p:sp>
      <p:sp>
        <p:nvSpPr>
          <p:cNvPr id="30" name="Text 27"/>
          <p:cNvSpPr txBox="1"/>
          <p:nvPr/>
        </p:nvSpPr>
        <p:spPr>
          <a:xfrm>
            <a:off x="4937760" y="3840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Duplicate Records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937760" y="41605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 → Clean Data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Turning Marks into Meaningful Metrics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64.38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061058"/>
            <a:ext cx="1371600" cy="4974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Overall Mean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48840" y="10972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240280" y="123444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64.00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2061058"/>
            <a:ext cx="1371600" cy="4974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0" y="10972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931920" y="123444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20.17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3931920" y="2061058"/>
            <a:ext cx="1371600" cy="4974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 Deviation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78892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8640" y="292608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752698"/>
            <a:ext cx="1371600" cy="4974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Highest Mark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148840" y="278892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2240280" y="292608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2240280" y="3752698"/>
            <a:ext cx="1371600" cy="4974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Lowest Mark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097280"/>
            <a:ext cx="3017520" cy="3246120"/>
          </a:xfrm>
          <a:prstGeom prst="roundRect">
            <a:avLst>
              <a:gd name="adj" fmla="val 3636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806440" y="1188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Grade Classification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17373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A+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17373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90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852160" y="215798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15798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80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852160" y="25786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949440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70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852160" y="299923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0" y="29992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60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852160" y="341985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341985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50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852160" y="3840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949440" y="38404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50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54835" y="-869315"/>
            <a:ext cx="12853670" cy="5885180"/>
          </a:xfrm>
          <a:prstGeom prst="ellipse">
            <a:avLst/>
          </a:prstGeom>
          <a:solidFill>
            <a:srgbClr val="121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Oval 2"/>
          <p:cNvSpPr/>
          <p:nvPr/>
        </p:nvSpPr>
        <p:spPr>
          <a:xfrm>
            <a:off x="-685800" y="3566160"/>
            <a:ext cx="10617200" cy="2017395"/>
          </a:xfrm>
          <a:prstGeom prst="ellipse">
            <a:avLst/>
          </a:prstGeom>
          <a:solidFill>
            <a:srgbClr val="121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260842" y="137160"/>
            <a:ext cx="3817620" cy="3575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5F7FF"/>
                </a:solidFill>
                <a:latin typeface="Segoe Print" panose="02000600000000000000"/>
              </a:defRPr>
            </a:pPr>
            <a:r>
              <a:rPr sz="1725"/>
              <a:t>Visualizing Student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842" y="809244"/>
            <a:ext cx="4217670" cy="1748790"/>
          </a:xfrm>
          <a:prstGeom prst="roundRect">
            <a:avLst/>
          </a:prstGeom>
          <a:solidFill>
            <a:srgbClr val="162552"/>
          </a:solidFill>
          <a:ln w="14604">
            <a:solidFill>
              <a:srgbClr val="2C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384286" y="877824"/>
            <a:ext cx="1428750" cy="206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E0FF"/>
                </a:solidFill>
                <a:latin typeface="Segoe Print" panose="02000600000000000000"/>
              </a:defRPr>
            </a:pPr>
            <a:r>
              <a:rPr sz="750"/>
              <a:t>Average Marks by Subject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718" y="1138428"/>
            <a:ext cx="3915918" cy="1323593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8" name="Picture 7" descr="average_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14" y="1200150"/>
            <a:ext cx="3751326" cy="12001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4524" y="809244"/>
            <a:ext cx="4217670" cy="1748790"/>
          </a:xfrm>
          <a:prstGeom prst="roundRect">
            <a:avLst/>
          </a:prstGeom>
          <a:solidFill>
            <a:srgbClr val="162552"/>
          </a:solidFill>
          <a:ln w="14604">
            <a:solidFill>
              <a:srgbClr val="2C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4697968" y="877824"/>
            <a:ext cx="1075690" cy="206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E0FF"/>
                </a:solidFill>
                <a:latin typeface="Segoe Print" panose="02000600000000000000"/>
              </a:defRPr>
            </a:pPr>
            <a:r>
              <a:rPr sz="750"/>
              <a:t>Grade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5400" y="1138428"/>
            <a:ext cx="3915918" cy="1323593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2" name="Picture 11" descr="grad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696" y="1200150"/>
            <a:ext cx="3751326" cy="120014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60842" y="2660904"/>
            <a:ext cx="4217670" cy="1748790"/>
          </a:xfrm>
          <a:prstGeom prst="roundRect">
            <a:avLst/>
          </a:prstGeom>
          <a:solidFill>
            <a:srgbClr val="162552"/>
          </a:solidFill>
          <a:ln w="14604">
            <a:solidFill>
              <a:srgbClr val="2C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384286" y="2729484"/>
            <a:ext cx="1624965" cy="206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E0FF"/>
                </a:solidFill>
                <a:latin typeface="Segoe Print" panose="02000600000000000000"/>
              </a:defRPr>
            </a:pPr>
            <a:r>
              <a:rPr sz="750"/>
              <a:t>Distribution of Average Marks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718" y="2990087"/>
            <a:ext cx="3915918" cy="1323593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6" name="Picture 15" descr="averag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14" y="3051810"/>
            <a:ext cx="3751326" cy="120014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4524" y="2660904"/>
            <a:ext cx="4217670" cy="1748790"/>
          </a:xfrm>
          <a:prstGeom prst="roundRect">
            <a:avLst/>
          </a:prstGeom>
          <a:solidFill>
            <a:srgbClr val="162552"/>
          </a:solidFill>
          <a:ln w="14604">
            <a:solidFill>
              <a:srgbClr val="2C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4697968" y="2729484"/>
            <a:ext cx="2019300" cy="206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E0FF"/>
                </a:solidFill>
                <a:latin typeface="Segoe Print" panose="02000600000000000000"/>
              </a:defRPr>
            </a:pPr>
            <a:r>
              <a:rPr sz="750"/>
              <a:t>Attendance vs Academic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25400" y="2990087"/>
            <a:ext cx="3915918" cy="1323593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20" name="Picture 19" descr="attendance_perform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696" y="3051810"/>
            <a:ext cx="3751326" cy="12001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Did We Discover?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10,000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74443"/>
            <a:ext cx="1737360" cy="555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Analyzed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32888" y="10972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624328" y="123444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64.38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2624328" y="2174443"/>
            <a:ext cx="1737360" cy="555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Overall Average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08576" y="10972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700016" y="123444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99.75%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4700016" y="2174443"/>
            <a:ext cx="1737360" cy="555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 Percentage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84264" y="10972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775704" y="123444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546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775704" y="2174443"/>
            <a:ext cx="1737360" cy="555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with Average &lt; 50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8138160" cy="1463040"/>
          </a:xfrm>
          <a:prstGeom prst="roundRect">
            <a:avLst>
              <a:gd name="adj" fmla="val 75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48640" y="32461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64.57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9319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 – Highest Subject Average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246120" y="32461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64.04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3246120" y="39319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 – Lowest Subject Average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32461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95.0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39319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Highest Individual Average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Raw Data to Meaningful Insights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10972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508760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system transforms raw student records into structured academic insights through: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286000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Cleaning → Analysis → Classification → Visualization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16244F">
              <a:alpha val="85000"/>
            </a:srgbClr>
          </a:solidFill>
          <a:ln w="9525">
            <a:solidFill>
              <a:srgbClr val="2B4A8F"/>
            </a:solidFill>
            <a:prstDash val="solid"/>
          </a:ln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800600" y="10972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508760"/>
            <a:ext cx="37490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Predictive performance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student segmentation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Early academic-support alerts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Institutional database integration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 → SMART ANALYSIS → ACTIONABLE INSIGHTS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8B5CF6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566160"/>
            <a:ext cx="3840480" cy="384048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Let’s See How It Works…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code demonstration in Google Colab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574</Words>
  <Application>Microsoft Office PowerPoint</Application>
  <PresentationFormat>On-screen Show (16:9)</PresentationFormat>
  <Paragraphs>228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25B11CS065</cp:lastModifiedBy>
  <cp:revision>3</cp:revision>
  <dcterms:created xsi:type="dcterms:W3CDTF">2026-09-30T13:57:00Z</dcterms:created>
  <dcterms:modified xsi:type="dcterms:W3CDTF">2026-10-01T04:30:46Z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D58ADD7B60AE40BD952E3085E5658DAE_12</vt:lpwstr>
  </property>
</Properties>
</file>